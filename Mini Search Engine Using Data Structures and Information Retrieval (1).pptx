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HK Grotesk Bold" charset="1" panose="00000800000000000000"/>
      <p:regular r:id="rId13"/>
    </p:embeddedFont>
    <p:embeddedFont>
      <p:font typeface="HK Grotesk Medium" charset="1" panose="000006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05478"/>
            <a:chOff x="0" y="0"/>
            <a:chExt cx="4274726" cy="212142"/>
          </a:xfrm>
        </p:grpSpPr>
        <p:sp>
          <p:nvSpPr>
            <p:cNvPr name="Freeform 3" id="3"/>
            <p:cNvSpPr/>
            <p:nvPr/>
          </p:nvSpPr>
          <p:spPr>
            <a:xfrm flipH="false" flipV="false" rot="0">
              <a:off x="0" y="0"/>
              <a:ext cx="4274726" cy="212142"/>
            </a:xfrm>
            <a:custGeom>
              <a:avLst/>
              <a:gdLst/>
              <a:ahLst/>
              <a:cxnLst/>
              <a:rect r="r" b="b" t="t" l="l"/>
              <a:pathLst>
                <a:path h="212142" w="4274726">
                  <a:moveTo>
                    <a:pt x="0" y="0"/>
                  </a:moveTo>
                  <a:lnTo>
                    <a:pt x="4274726" y="0"/>
                  </a:lnTo>
                  <a:lnTo>
                    <a:pt x="4274726" y="212142"/>
                  </a:lnTo>
                  <a:lnTo>
                    <a:pt x="0" y="212142"/>
                  </a:lnTo>
                  <a:close/>
                </a:path>
              </a:pathLst>
            </a:custGeom>
            <a:solidFill>
              <a:srgbClr val="233DFF"/>
            </a:solidFill>
          </p:spPr>
        </p:sp>
        <p:sp>
          <p:nvSpPr>
            <p:cNvPr name="TextBox 4" id="4"/>
            <p:cNvSpPr txBox="true"/>
            <p:nvPr/>
          </p:nvSpPr>
          <p:spPr>
            <a:xfrm>
              <a:off x="0" y="-38100"/>
              <a:ext cx="4274726" cy="25024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8450580"/>
            <a:ext cx="16230600" cy="805478"/>
            <a:chOff x="0" y="0"/>
            <a:chExt cx="4274726" cy="212142"/>
          </a:xfrm>
        </p:grpSpPr>
        <p:sp>
          <p:nvSpPr>
            <p:cNvPr name="Freeform 6" id="6"/>
            <p:cNvSpPr/>
            <p:nvPr/>
          </p:nvSpPr>
          <p:spPr>
            <a:xfrm flipH="false" flipV="false" rot="0">
              <a:off x="0" y="0"/>
              <a:ext cx="4274726" cy="212142"/>
            </a:xfrm>
            <a:custGeom>
              <a:avLst/>
              <a:gdLst/>
              <a:ahLst/>
              <a:cxnLst/>
              <a:rect r="r" b="b" t="t" l="l"/>
              <a:pathLst>
                <a:path h="212142" w="4274726">
                  <a:moveTo>
                    <a:pt x="0" y="0"/>
                  </a:moveTo>
                  <a:lnTo>
                    <a:pt x="4274726" y="0"/>
                  </a:lnTo>
                  <a:lnTo>
                    <a:pt x="4274726" y="212142"/>
                  </a:lnTo>
                  <a:lnTo>
                    <a:pt x="0" y="212142"/>
                  </a:lnTo>
                  <a:close/>
                </a:path>
              </a:pathLst>
            </a:custGeom>
            <a:solidFill>
              <a:srgbClr val="233DFF"/>
            </a:solidFill>
          </p:spPr>
        </p:sp>
        <p:sp>
          <p:nvSpPr>
            <p:cNvPr name="TextBox 7" id="7"/>
            <p:cNvSpPr txBox="true"/>
            <p:nvPr/>
          </p:nvSpPr>
          <p:spPr>
            <a:xfrm>
              <a:off x="0" y="-38100"/>
              <a:ext cx="4274726" cy="25024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2700000">
            <a:off x="10908772" y="3978227"/>
            <a:ext cx="10707063" cy="8458580"/>
          </a:xfrm>
          <a:custGeom>
            <a:avLst/>
            <a:gdLst/>
            <a:ahLst/>
            <a:cxnLst/>
            <a:rect r="r" b="b" t="t" l="l"/>
            <a:pathLst>
              <a:path h="8458580" w="10707063">
                <a:moveTo>
                  <a:pt x="0" y="0"/>
                </a:moveTo>
                <a:lnTo>
                  <a:pt x="10707063" y="0"/>
                </a:lnTo>
                <a:lnTo>
                  <a:pt x="10707063" y="8458580"/>
                </a:lnTo>
                <a:lnTo>
                  <a:pt x="0" y="8458580"/>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432991" y="2119460"/>
            <a:ext cx="10075289" cy="6088057"/>
          </a:xfrm>
          <a:custGeom>
            <a:avLst/>
            <a:gdLst/>
            <a:ahLst/>
            <a:cxnLst/>
            <a:rect r="r" b="b" t="t" l="l"/>
            <a:pathLst>
              <a:path h="6088057" w="10075289">
                <a:moveTo>
                  <a:pt x="0" y="0"/>
                </a:moveTo>
                <a:lnTo>
                  <a:pt x="10075290" y="0"/>
                </a:lnTo>
                <a:lnTo>
                  <a:pt x="10075290" y="6088057"/>
                </a:lnTo>
                <a:lnTo>
                  <a:pt x="0" y="6088057"/>
                </a:lnTo>
                <a:lnTo>
                  <a:pt x="0" y="0"/>
                </a:lnTo>
                <a:close/>
              </a:path>
            </a:pathLst>
          </a:custGeom>
          <a:blipFill>
            <a:blip r:embed="rId4"/>
            <a:stretch>
              <a:fillRect l="0" t="-4685" r="0" b="-5642"/>
            </a:stretch>
          </a:blipFill>
        </p:spPr>
      </p:sp>
      <p:sp>
        <p:nvSpPr>
          <p:cNvPr name="TextBox 10" id="10"/>
          <p:cNvSpPr txBox="true"/>
          <p:nvPr/>
        </p:nvSpPr>
        <p:spPr>
          <a:xfrm rot="0">
            <a:off x="1028700" y="2205185"/>
            <a:ext cx="4341492" cy="5539438"/>
          </a:xfrm>
          <a:prstGeom prst="rect">
            <a:avLst/>
          </a:prstGeom>
        </p:spPr>
        <p:txBody>
          <a:bodyPr anchor="t" rtlCol="false" tIns="0" lIns="0" bIns="0" rIns="0">
            <a:spAutoFit/>
          </a:bodyPr>
          <a:lstStyle/>
          <a:p>
            <a:pPr algn="l">
              <a:lnSpc>
                <a:spcPts val="4814"/>
              </a:lnSpc>
            </a:pPr>
            <a:r>
              <a:rPr lang="en-US" sz="4814" b="true">
                <a:solidFill>
                  <a:srgbClr val="F4F6FC"/>
                </a:solidFill>
                <a:latin typeface="HK Grotesk Bold"/>
                <a:ea typeface="HK Grotesk Bold"/>
                <a:cs typeface="HK Grotesk Bold"/>
                <a:sym typeface="HK Grotesk Bold"/>
              </a:rPr>
              <a:t>Mini Search Engine Using Data Structures and Information Retrieval</a:t>
            </a:r>
          </a:p>
          <a:p>
            <a:pPr algn="l">
              <a:lnSpc>
                <a:spcPts val="4814"/>
              </a:lnSpc>
            </a:pPr>
          </a:p>
          <a:p>
            <a:pPr algn="l">
              <a:lnSpc>
                <a:spcPts val="4814"/>
              </a:lnSpc>
            </a:pPr>
          </a:p>
          <a:p>
            <a:pPr algn="l">
              <a:lnSpc>
                <a:spcPts val="4814"/>
              </a:lnSpc>
            </a:pPr>
          </a:p>
        </p:txBody>
      </p:sp>
      <p:sp>
        <p:nvSpPr>
          <p:cNvPr name="TextBox 11" id="11"/>
          <p:cNvSpPr txBox="true"/>
          <p:nvPr/>
        </p:nvSpPr>
        <p:spPr>
          <a:xfrm rot="0">
            <a:off x="1292864" y="1146641"/>
            <a:ext cx="5524500" cy="493395"/>
          </a:xfrm>
          <a:prstGeom prst="rect">
            <a:avLst/>
          </a:prstGeom>
        </p:spPr>
        <p:txBody>
          <a:bodyPr anchor="t" rtlCol="false" tIns="0" lIns="0" bIns="0" rIns="0">
            <a:spAutoFit/>
          </a:bodyPr>
          <a:lstStyle/>
          <a:p>
            <a:pPr algn="l" marL="0" indent="0" lvl="0">
              <a:lnSpc>
                <a:spcPts val="4199"/>
              </a:lnSpc>
              <a:spcBef>
                <a:spcPct val="0"/>
              </a:spcBef>
            </a:pPr>
            <a:r>
              <a:rPr lang="en-US" b="true" sz="2799">
                <a:solidFill>
                  <a:srgbClr val="050A30"/>
                </a:solidFill>
                <a:latin typeface="HK Grotesk Medium"/>
                <a:ea typeface="HK Grotesk Medium"/>
                <a:cs typeface="HK Grotesk Medium"/>
                <a:sym typeface="HK Grotesk Medium"/>
              </a:rPr>
              <a:t>Data Structures&amp;Algorithms</a:t>
            </a:r>
          </a:p>
        </p:txBody>
      </p:sp>
      <p:sp>
        <p:nvSpPr>
          <p:cNvPr name="TextBox 12" id="12"/>
          <p:cNvSpPr txBox="true"/>
          <p:nvPr/>
        </p:nvSpPr>
        <p:spPr>
          <a:xfrm rot="0">
            <a:off x="11470636" y="1146641"/>
            <a:ext cx="5524500" cy="493395"/>
          </a:xfrm>
          <a:prstGeom prst="rect">
            <a:avLst/>
          </a:prstGeom>
        </p:spPr>
        <p:txBody>
          <a:bodyPr anchor="t" rtlCol="false" tIns="0" lIns="0" bIns="0" rIns="0">
            <a:spAutoFit/>
          </a:bodyPr>
          <a:lstStyle/>
          <a:p>
            <a:pPr algn="r" marL="0" indent="0" lvl="0">
              <a:lnSpc>
                <a:spcPts val="4199"/>
              </a:lnSpc>
              <a:spcBef>
                <a:spcPct val="0"/>
              </a:spcBef>
            </a:pPr>
            <a:r>
              <a:rPr lang="en-US" b="true" sz="2799">
                <a:solidFill>
                  <a:srgbClr val="050A30"/>
                </a:solidFill>
                <a:latin typeface="HK Grotesk Medium"/>
                <a:ea typeface="HK Grotesk Medium"/>
                <a:cs typeface="HK Grotesk Medium"/>
                <a:sym typeface="HK Grotesk Medium"/>
              </a:rPr>
              <a:t>section-12</a:t>
            </a:r>
          </a:p>
        </p:txBody>
      </p:sp>
      <p:sp>
        <p:nvSpPr>
          <p:cNvPr name="TextBox 13" id="13"/>
          <p:cNvSpPr txBox="true"/>
          <p:nvPr/>
        </p:nvSpPr>
        <p:spPr>
          <a:xfrm rot="0">
            <a:off x="1292864" y="8574405"/>
            <a:ext cx="5524500" cy="493395"/>
          </a:xfrm>
          <a:prstGeom prst="rect">
            <a:avLst/>
          </a:prstGeom>
        </p:spPr>
        <p:txBody>
          <a:bodyPr anchor="t" rtlCol="false" tIns="0" lIns="0" bIns="0" rIns="0">
            <a:spAutoFit/>
          </a:bodyPr>
          <a:lstStyle/>
          <a:p>
            <a:pPr algn="l" marL="0" indent="0" lvl="0">
              <a:lnSpc>
                <a:spcPts val="4199"/>
              </a:lnSpc>
              <a:spcBef>
                <a:spcPct val="0"/>
              </a:spcBef>
            </a:pPr>
            <a:r>
              <a:rPr lang="en-US" b="true" sz="2799">
                <a:solidFill>
                  <a:srgbClr val="050A30"/>
                </a:solidFill>
                <a:latin typeface="HK Grotesk Medium"/>
                <a:ea typeface="HK Grotesk Medium"/>
                <a:cs typeface="HK Grotesk Medium"/>
                <a:sym typeface="HK Grotesk Medium"/>
              </a:rPr>
              <a:t>B.Siddhartha-2500090225</a:t>
            </a:r>
          </a:p>
        </p:txBody>
      </p:sp>
      <p:sp>
        <p:nvSpPr>
          <p:cNvPr name="TextBox 14" id="14"/>
          <p:cNvSpPr txBox="true"/>
          <p:nvPr/>
        </p:nvSpPr>
        <p:spPr>
          <a:xfrm rot="0">
            <a:off x="7112355" y="8574405"/>
            <a:ext cx="5524500" cy="493395"/>
          </a:xfrm>
          <a:prstGeom prst="rect">
            <a:avLst/>
          </a:prstGeom>
        </p:spPr>
        <p:txBody>
          <a:bodyPr anchor="t" rtlCol="false" tIns="0" lIns="0" bIns="0" rIns="0">
            <a:spAutoFit/>
          </a:bodyPr>
          <a:lstStyle/>
          <a:p>
            <a:pPr algn="l" marL="0" indent="0" lvl="0">
              <a:lnSpc>
                <a:spcPts val="4199"/>
              </a:lnSpc>
              <a:spcBef>
                <a:spcPct val="0"/>
              </a:spcBef>
            </a:pPr>
            <a:r>
              <a:rPr lang="en-US" b="true" sz="2799">
                <a:solidFill>
                  <a:srgbClr val="050A30"/>
                </a:solidFill>
                <a:latin typeface="HK Grotesk Medium"/>
                <a:ea typeface="HK Grotesk Medium"/>
                <a:cs typeface="HK Grotesk Medium"/>
                <a:sym typeface="HK Grotesk Medium"/>
              </a:rPr>
              <a:t>C.V.JaswanthReddy-2520080025</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50A30"/>
        </a:solidFill>
      </p:bgPr>
    </p:bg>
    <p:spTree>
      <p:nvGrpSpPr>
        <p:cNvPr id="1" name=""/>
        <p:cNvGrpSpPr/>
        <p:nvPr/>
      </p:nvGrpSpPr>
      <p:grpSpPr>
        <a:xfrm>
          <a:off x="0" y="0"/>
          <a:ext cx="0" cy="0"/>
          <a:chOff x="0" y="0"/>
          <a:chExt cx="0" cy="0"/>
        </a:xfrm>
      </p:grpSpPr>
      <p:sp>
        <p:nvSpPr>
          <p:cNvPr name="TextBox 2" id="2"/>
          <p:cNvSpPr txBox="true"/>
          <p:nvPr/>
        </p:nvSpPr>
        <p:spPr>
          <a:xfrm rot="0">
            <a:off x="1028700" y="904875"/>
            <a:ext cx="15478125" cy="1094740"/>
          </a:xfrm>
          <a:prstGeom prst="rect">
            <a:avLst/>
          </a:prstGeom>
        </p:spPr>
        <p:txBody>
          <a:bodyPr anchor="t" rtlCol="false" tIns="0" lIns="0" bIns="0" rIns="0">
            <a:spAutoFit/>
          </a:bodyPr>
          <a:lstStyle/>
          <a:p>
            <a:pPr algn="ctr">
              <a:lnSpc>
                <a:spcPts val="8959"/>
              </a:lnSpc>
            </a:pPr>
            <a:r>
              <a:rPr lang="en-US" b="true" sz="6399">
                <a:solidFill>
                  <a:srgbClr val="F4F6FC"/>
                </a:solidFill>
                <a:latin typeface="HK Grotesk Bold"/>
                <a:ea typeface="HK Grotesk Bold"/>
                <a:cs typeface="HK Grotesk Bold"/>
                <a:sym typeface="HK Grotesk Bold"/>
              </a:rPr>
              <a:t>Abstract</a:t>
            </a:r>
          </a:p>
        </p:txBody>
      </p:sp>
      <p:sp>
        <p:nvSpPr>
          <p:cNvPr name="TextBox 3" id="3"/>
          <p:cNvSpPr txBox="true"/>
          <p:nvPr/>
        </p:nvSpPr>
        <p:spPr>
          <a:xfrm rot="0">
            <a:off x="0" y="2098373"/>
            <a:ext cx="18250041" cy="6182802"/>
          </a:xfrm>
          <a:prstGeom prst="rect">
            <a:avLst/>
          </a:prstGeom>
        </p:spPr>
        <p:txBody>
          <a:bodyPr anchor="t" rtlCol="false" tIns="0" lIns="0" bIns="0" rIns="0">
            <a:spAutoFit/>
          </a:bodyPr>
          <a:lstStyle/>
          <a:p>
            <a:pPr algn="ctr">
              <a:lnSpc>
                <a:spcPts val="4944"/>
              </a:lnSpc>
            </a:pPr>
            <a:r>
              <a:rPr lang="en-US" sz="3531" b="true">
                <a:solidFill>
                  <a:srgbClr val="F4F6FC"/>
                </a:solidFill>
                <a:latin typeface="HK Grotesk Medium"/>
                <a:ea typeface="HK Grotesk Medium"/>
                <a:cs typeface="HK Grotesk Medium"/>
                <a:sym typeface="HK Grotesk Medium"/>
              </a:rPr>
              <a:t>The Mini Search Engine Using Data Structures and Information Retrieval is a software application designed to search and retrieve relevant information from a collection of text documents. The system reads multiple text files, processes their contents, and creates an index of the words found in each document. When a user enters a keyword, the system searches this index and quickly identifies the documents containing the requested word.</a:t>
            </a:r>
          </a:p>
          <a:p>
            <a:pPr algn="ctr">
              <a:lnSpc>
                <a:spcPts val="4944"/>
              </a:lnSpc>
            </a:pPr>
            <a:r>
              <a:rPr lang="en-US" sz="3531" b="true">
                <a:solidFill>
                  <a:srgbClr val="F4F6FC"/>
                </a:solidFill>
                <a:latin typeface="HK Grotesk Medium"/>
                <a:ea typeface="HK Grotesk Medium"/>
                <a:cs typeface="HK Grotesk Medium"/>
                <a:sym typeface="HK Grotesk Medium"/>
              </a:rPr>
              <a:t>The project uses important Data Structures and Algorithms, particularly HashMap for efficient indexing and searching, ArrayList for storing documents and search results, and HashSet for avoiding duplicate entries. The system can also count the occurrence of searched words and rank the matching documents based on their relevance.</a:t>
            </a:r>
          </a:p>
          <a:p>
            <a:pPr algn="ctr">
              <a:lnSpc>
                <a:spcPts val="4944"/>
              </a:lnSpc>
              <a:spcBef>
                <a:spcPct val="0"/>
              </a:spcBef>
            </a:pP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p:cSld>
    <p:bg>
      <p:bgPr>
        <a:solidFill>
          <a:srgbClr val="050A30"/>
        </a:solidFill>
      </p:bgPr>
    </p:bg>
    <p:spTree>
      <p:nvGrpSpPr>
        <p:cNvPr id="1" name=""/>
        <p:cNvGrpSpPr/>
        <p:nvPr/>
      </p:nvGrpSpPr>
      <p:grpSpPr>
        <a:xfrm>
          <a:off x="0" y="0"/>
          <a:ext cx="0" cy="0"/>
          <a:chOff x="0" y="0"/>
          <a:chExt cx="0" cy="0"/>
        </a:xfrm>
      </p:grpSpPr>
      <p:sp>
        <p:nvSpPr>
          <p:cNvPr name="TextBox 2" id="2"/>
          <p:cNvSpPr txBox="true"/>
          <p:nvPr/>
        </p:nvSpPr>
        <p:spPr>
          <a:xfrm rot="0">
            <a:off x="5074416" y="262584"/>
            <a:ext cx="5985867" cy="1370307"/>
          </a:xfrm>
          <a:prstGeom prst="rect">
            <a:avLst/>
          </a:prstGeom>
        </p:spPr>
        <p:txBody>
          <a:bodyPr anchor="t" rtlCol="false" tIns="0" lIns="0" bIns="0" rIns="0">
            <a:spAutoFit/>
          </a:bodyPr>
          <a:lstStyle/>
          <a:p>
            <a:pPr algn="r">
              <a:lnSpc>
                <a:spcPts val="11151"/>
              </a:lnSpc>
            </a:pPr>
            <a:r>
              <a:rPr lang="en-US" b="true" sz="7965">
                <a:solidFill>
                  <a:srgbClr val="F4F6FC"/>
                </a:solidFill>
                <a:latin typeface="HK Grotesk Bold"/>
                <a:ea typeface="HK Grotesk Bold"/>
                <a:cs typeface="HK Grotesk Bold"/>
                <a:sym typeface="HK Grotesk Bold"/>
              </a:rPr>
              <a:t>Introduction</a:t>
            </a:r>
          </a:p>
        </p:txBody>
      </p:sp>
      <p:sp>
        <p:nvSpPr>
          <p:cNvPr name="TextBox 3" id="3"/>
          <p:cNvSpPr txBox="true"/>
          <p:nvPr/>
        </p:nvSpPr>
        <p:spPr>
          <a:xfrm rot="0">
            <a:off x="164656" y="2271885"/>
            <a:ext cx="18123344" cy="6262522"/>
          </a:xfrm>
          <a:prstGeom prst="rect">
            <a:avLst/>
          </a:prstGeom>
        </p:spPr>
        <p:txBody>
          <a:bodyPr anchor="t" rtlCol="false" tIns="0" lIns="0" bIns="0" rIns="0">
            <a:spAutoFit/>
          </a:bodyPr>
          <a:lstStyle/>
          <a:p>
            <a:pPr algn="l">
              <a:lnSpc>
                <a:spcPts val="4996"/>
              </a:lnSpc>
            </a:pPr>
            <a:r>
              <a:rPr lang="en-US" sz="3569" b="true">
                <a:solidFill>
                  <a:srgbClr val="F4F6FC"/>
                </a:solidFill>
                <a:latin typeface="HK Grotesk Medium"/>
                <a:ea typeface="HK Grotesk Medium"/>
                <a:cs typeface="HK Grotesk Medium"/>
                <a:sym typeface="HK Grotesk Medium"/>
              </a:rPr>
              <a:t>The Mini Search Engine Using Data Structures and Information Retrieval is a simple search system designed to find relevant information from a collection of text documents. As the number of digital documents increases, manually searching for required information becomes time-consuming. This project provides a faster and more organized way to search for keywords within multiple documents.</a:t>
            </a:r>
          </a:p>
          <a:p>
            <a:pPr algn="l">
              <a:lnSpc>
                <a:spcPts val="4996"/>
              </a:lnSpc>
            </a:pPr>
            <a:r>
              <a:rPr lang="en-US" sz="3569" b="true">
                <a:solidFill>
                  <a:srgbClr val="F4F6FC"/>
                </a:solidFill>
                <a:latin typeface="HK Grotesk Medium"/>
                <a:ea typeface="HK Grotesk Medium"/>
                <a:cs typeface="HK Grotesk Medium"/>
                <a:sym typeface="HK Grotesk Medium"/>
              </a:rPr>
              <a:t>The system reads the available text files, processes their contents, and creates an index that connects each word with the documents in which it appears. When a user enters a keyword, the system uses this index to quickly find and display the matching documents instead of checking every document individually.</a:t>
            </a:r>
          </a:p>
          <a:p>
            <a:pPr algn="ctr">
              <a:lnSpc>
                <a:spcPts val="4996"/>
              </a:lnSpc>
              <a:spcBef>
                <a:spcPct val="0"/>
              </a:spcBef>
            </a:pPr>
          </a:p>
        </p:txBody>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p:cSld>
    <p:bg>
      <p:bgPr>
        <a:solidFill>
          <a:srgbClr val="050A30"/>
        </a:solidFill>
      </p:bgPr>
    </p:bg>
    <p:spTree>
      <p:nvGrpSpPr>
        <p:cNvPr id="1" name=""/>
        <p:cNvGrpSpPr/>
        <p:nvPr/>
      </p:nvGrpSpPr>
      <p:grpSpPr>
        <a:xfrm>
          <a:off x="0" y="0"/>
          <a:ext cx="0" cy="0"/>
          <a:chOff x="0" y="0"/>
          <a:chExt cx="0" cy="0"/>
        </a:xfrm>
      </p:grpSpPr>
      <p:sp>
        <p:nvSpPr>
          <p:cNvPr name="TextBox 2" id="2"/>
          <p:cNvSpPr txBox="true"/>
          <p:nvPr/>
        </p:nvSpPr>
        <p:spPr>
          <a:xfrm rot="0">
            <a:off x="2808811" y="44340"/>
            <a:ext cx="11689808" cy="984360"/>
          </a:xfrm>
          <a:prstGeom prst="rect">
            <a:avLst/>
          </a:prstGeom>
        </p:spPr>
        <p:txBody>
          <a:bodyPr anchor="t" rtlCol="false" tIns="0" lIns="0" bIns="0" rIns="0">
            <a:spAutoFit/>
          </a:bodyPr>
          <a:lstStyle/>
          <a:p>
            <a:pPr algn="r">
              <a:lnSpc>
                <a:spcPts val="8029"/>
              </a:lnSpc>
            </a:pPr>
            <a:r>
              <a:rPr lang="en-US" b="true" sz="5735">
                <a:solidFill>
                  <a:srgbClr val="F4F6FC"/>
                </a:solidFill>
                <a:latin typeface="HK Grotesk Bold"/>
                <a:ea typeface="HK Grotesk Bold"/>
                <a:cs typeface="HK Grotesk Bold"/>
                <a:sym typeface="HK Grotesk Bold"/>
              </a:rPr>
              <a:t>Software&amp;Hardware Requirements</a:t>
            </a:r>
          </a:p>
        </p:txBody>
      </p:sp>
      <p:sp>
        <p:nvSpPr>
          <p:cNvPr name="TextBox 3" id="3"/>
          <p:cNvSpPr txBox="true"/>
          <p:nvPr/>
        </p:nvSpPr>
        <p:spPr>
          <a:xfrm rot="0">
            <a:off x="517491" y="2327642"/>
            <a:ext cx="7971569" cy="4335496"/>
          </a:xfrm>
          <a:prstGeom prst="rect">
            <a:avLst/>
          </a:prstGeom>
        </p:spPr>
        <p:txBody>
          <a:bodyPr anchor="t" rtlCol="false" tIns="0" lIns="0" bIns="0" rIns="0">
            <a:spAutoFit/>
          </a:bodyPr>
          <a:lstStyle/>
          <a:p>
            <a:pPr algn="l">
              <a:lnSpc>
                <a:spcPts val="4321"/>
              </a:lnSpc>
              <a:spcBef>
                <a:spcPct val="0"/>
              </a:spcBef>
            </a:pPr>
            <a:r>
              <a:rPr lang="en-US" b="true" sz="3086">
                <a:solidFill>
                  <a:srgbClr val="F4F6FC"/>
                </a:solidFill>
                <a:latin typeface="HK Grotesk Medium"/>
                <a:ea typeface="HK Grotesk Medium"/>
                <a:cs typeface="HK Grotesk Medium"/>
                <a:sym typeface="HK Grotesk Medium"/>
              </a:rPr>
              <a:t>Software Requirements:</a:t>
            </a:r>
          </a:p>
          <a:p>
            <a:pPr algn="l">
              <a:lnSpc>
                <a:spcPts val="4321"/>
              </a:lnSpc>
              <a:spcBef>
                <a:spcPct val="0"/>
              </a:spcBef>
            </a:pPr>
            <a:r>
              <a:rPr lang="en-US" b="true" sz="3086">
                <a:solidFill>
                  <a:srgbClr val="F4F6FC"/>
                </a:solidFill>
                <a:latin typeface="HK Grotesk Medium"/>
                <a:ea typeface="HK Grotesk Medium"/>
                <a:cs typeface="HK Grotesk Medium"/>
                <a:sym typeface="HK Grotesk Medium"/>
              </a:rPr>
              <a:t>Operating System: Windows 10/11</a:t>
            </a:r>
          </a:p>
          <a:p>
            <a:pPr algn="l">
              <a:lnSpc>
                <a:spcPts val="4321"/>
              </a:lnSpc>
              <a:spcBef>
                <a:spcPct val="0"/>
              </a:spcBef>
            </a:pPr>
            <a:r>
              <a:rPr lang="en-US" b="true" sz="3086">
                <a:solidFill>
                  <a:srgbClr val="F4F6FC"/>
                </a:solidFill>
                <a:latin typeface="HK Grotesk Medium"/>
                <a:ea typeface="HK Grotesk Medium"/>
                <a:cs typeface="HK Grotesk Medium"/>
                <a:sym typeface="HK Grotesk Medium"/>
              </a:rPr>
              <a:t>Programming Language: Java</a:t>
            </a:r>
          </a:p>
          <a:p>
            <a:pPr algn="l">
              <a:lnSpc>
                <a:spcPts val="4321"/>
              </a:lnSpc>
              <a:spcBef>
                <a:spcPct val="0"/>
              </a:spcBef>
            </a:pPr>
            <a:r>
              <a:rPr lang="en-US" b="true" sz="3086">
                <a:solidFill>
                  <a:srgbClr val="F4F6FC"/>
                </a:solidFill>
                <a:latin typeface="HK Grotesk Medium"/>
                <a:ea typeface="HK Grotesk Medium"/>
                <a:cs typeface="HK Grotesk Medium"/>
                <a:sym typeface="HK Grotesk Medium"/>
              </a:rPr>
              <a:t>JDK: JDK 17 or above</a:t>
            </a:r>
          </a:p>
          <a:p>
            <a:pPr algn="l">
              <a:lnSpc>
                <a:spcPts val="4321"/>
              </a:lnSpc>
              <a:spcBef>
                <a:spcPct val="0"/>
              </a:spcBef>
            </a:pPr>
            <a:r>
              <a:rPr lang="en-US" b="true" sz="3086">
                <a:solidFill>
                  <a:srgbClr val="F4F6FC"/>
                </a:solidFill>
                <a:latin typeface="HK Grotesk Medium"/>
                <a:ea typeface="HK Grotesk Medium"/>
                <a:cs typeface="HK Grotesk Medium"/>
                <a:sym typeface="HK Grotesk Medium"/>
              </a:rPr>
              <a:t>IDE: VS Code / IntelliJ IDEA / Eclipse</a:t>
            </a:r>
          </a:p>
          <a:p>
            <a:pPr algn="l">
              <a:lnSpc>
                <a:spcPts val="4321"/>
              </a:lnSpc>
              <a:spcBef>
                <a:spcPct val="0"/>
              </a:spcBef>
            </a:pPr>
            <a:r>
              <a:rPr lang="en-US" b="true" sz="3086">
                <a:solidFill>
                  <a:srgbClr val="F4F6FC"/>
                </a:solidFill>
                <a:latin typeface="HK Grotesk Medium"/>
                <a:ea typeface="HK Grotesk Medium"/>
                <a:cs typeface="HK Grotesk Medium"/>
                <a:sym typeface="HK Grotesk Medium"/>
              </a:rPr>
              <a:t>Data Structures: HashMap, ArrayList, HashSet</a:t>
            </a:r>
          </a:p>
          <a:p>
            <a:pPr algn="l">
              <a:lnSpc>
                <a:spcPts val="4321"/>
              </a:lnSpc>
              <a:spcBef>
                <a:spcPct val="0"/>
              </a:spcBef>
            </a:pPr>
            <a:r>
              <a:rPr lang="en-US" b="true" sz="3086">
                <a:solidFill>
                  <a:srgbClr val="F4F6FC"/>
                </a:solidFill>
                <a:latin typeface="HK Grotesk Medium"/>
                <a:ea typeface="HK Grotesk Medium"/>
                <a:cs typeface="HK Grotesk Medium"/>
                <a:sym typeface="HK Grotesk Medium"/>
              </a:rPr>
              <a:t>File Handling: Java File I/O</a:t>
            </a:r>
          </a:p>
          <a:p>
            <a:pPr algn="l">
              <a:lnSpc>
                <a:spcPts val="4321"/>
              </a:lnSpc>
              <a:spcBef>
                <a:spcPct val="0"/>
              </a:spcBef>
            </a:pPr>
            <a:r>
              <a:rPr lang="en-US" b="true" sz="3086">
                <a:solidFill>
                  <a:srgbClr val="F4F6FC"/>
                </a:solidFill>
                <a:latin typeface="HK Grotesk Medium"/>
                <a:ea typeface="HK Grotesk Medium"/>
                <a:cs typeface="HK Grotesk Medium"/>
                <a:sym typeface="HK Grotesk Medium"/>
              </a:rPr>
              <a:t>Database: Not Required</a:t>
            </a:r>
          </a:p>
        </p:txBody>
      </p:sp>
      <p:sp>
        <p:nvSpPr>
          <p:cNvPr name="TextBox 4" id="4"/>
          <p:cNvSpPr txBox="true"/>
          <p:nvPr/>
        </p:nvSpPr>
        <p:spPr>
          <a:xfrm rot="0">
            <a:off x="8919862" y="2317972"/>
            <a:ext cx="8890801" cy="4345166"/>
          </a:xfrm>
          <a:prstGeom prst="rect">
            <a:avLst/>
          </a:prstGeom>
        </p:spPr>
        <p:txBody>
          <a:bodyPr anchor="t" rtlCol="false" tIns="0" lIns="0" bIns="0" rIns="0">
            <a:spAutoFit/>
          </a:bodyPr>
          <a:lstStyle/>
          <a:p>
            <a:pPr algn="l">
              <a:lnSpc>
                <a:spcPts val="4333"/>
              </a:lnSpc>
              <a:spcBef>
                <a:spcPct val="0"/>
              </a:spcBef>
            </a:pPr>
            <a:r>
              <a:rPr lang="en-US" b="true" sz="3095">
                <a:solidFill>
                  <a:srgbClr val="F4F6FC"/>
                </a:solidFill>
                <a:latin typeface="HK Grotesk Medium"/>
                <a:ea typeface="HK Grotesk Medium"/>
                <a:cs typeface="HK Grotesk Medium"/>
                <a:sym typeface="HK Grotesk Medium"/>
              </a:rPr>
              <a:t>Hardware Requirements</a:t>
            </a:r>
          </a:p>
          <a:p>
            <a:pPr algn="l">
              <a:lnSpc>
                <a:spcPts val="4333"/>
              </a:lnSpc>
              <a:spcBef>
                <a:spcPct val="0"/>
              </a:spcBef>
            </a:pPr>
            <a:r>
              <a:rPr lang="en-US" b="true" sz="3095">
                <a:solidFill>
                  <a:srgbClr val="F4F6FC"/>
                </a:solidFill>
                <a:latin typeface="HK Grotesk Medium"/>
                <a:ea typeface="HK Grotesk Medium"/>
                <a:cs typeface="HK Grotesk Medium"/>
                <a:sym typeface="HK Grotesk Medium"/>
              </a:rPr>
              <a:t>Processor: Intel Core i3 or equivalent</a:t>
            </a:r>
          </a:p>
          <a:p>
            <a:pPr algn="l">
              <a:lnSpc>
                <a:spcPts val="4333"/>
              </a:lnSpc>
              <a:spcBef>
                <a:spcPct val="0"/>
              </a:spcBef>
            </a:pPr>
            <a:r>
              <a:rPr lang="en-US" b="true" sz="3095">
                <a:solidFill>
                  <a:srgbClr val="F4F6FC"/>
                </a:solidFill>
                <a:latin typeface="HK Grotesk Medium"/>
                <a:ea typeface="HK Grotesk Medium"/>
                <a:cs typeface="HK Grotesk Medium"/>
                <a:sym typeface="HK Grotesk Medium"/>
              </a:rPr>
              <a:t>RAM: 4 GB or above</a:t>
            </a:r>
          </a:p>
          <a:p>
            <a:pPr algn="l">
              <a:lnSpc>
                <a:spcPts val="4333"/>
              </a:lnSpc>
              <a:spcBef>
                <a:spcPct val="0"/>
              </a:spcBef>
            </a:pPr>
            <a:r>
              <a:rPr lang="en-US" b="true" sz="3095">
                <a:solidFill>
                  <a:srgbClr val="F4F6FC"/>
                </a:solidFill>
                <a:latin typeface="HK Grotesk Medium"/>
                <a:ea typeface="HK Grotesk Medium"/>
                <a:cs typeface="HK Grotesk Medium"/>
                <a:sym typeface="HK Grotesk Medium"/>
              </a:rPr>
              <a:t>Storage: 500 MB free space</a:t>
            </a:r>
          </a:p>
          <a:p>
            <a:pPr algn="l">
              <a:lnSpc>
                <a:spcPts val="4333"/>
              </a:lnSpc>
              <a:spcBef>
                <a:spcPct val="0"/>
              </a:spcBef>
            </a:pPr>
            <a:r>
              <a:rPr lang="en-US" b="true" sz="3095">
                <a:solidFill>
                  <a:srgbClr val="F4F6FC"/>
                </a:solidFill>
                <a:latin typeface="HK Grotesk Medium"/>
                <a:ea typeface="HK Grotesk Medium"/>
                <a:cs typeface="HK Grotesk Medium"/>
                <a:sym typeface="HK Grotesk Medium"/>
              </a:rPr>
              <a:t>Display: 1366 × 768 resolution or higher</a:t>
            </a:r>
          </a:p>
          <a:p>
            <a:pPr algn="l">
              <a:lnSpc>
                <a:spcPts val="4333"/>
              </a:lnSpc>
              <a:spcBef>
                <a:spcPct val="0"/>
              </a:spcBef>
            </a:pPr>
            <a:r>
              <a:rPr lang="en-US" b="true" sz="3095">
                <a:solidFill>
                  <a:srgbClr val="F4F6FC"/>
                </a:solidFill>
                <a:latin typeface="HK Grotesk Medium"/>
                <a:ea typeface="HK Grotesk Medium"/>
                <a:cs typeface="HK Grotesk Medium"/>
                <a:sym typeface="HK Grotesk Medium"/>
              </a:rPr>
              <a:t>Keyboard: Standard keyboard</a:t>
            </a:r>
          </a:p>
          <a:p>
            <a:pPr algn="l">
              <a:lnSpc>
                <a:spcPts val="4333"/>
              </a:lnSpc>
              <a:spcBef>
                <a:spcPct val="0"/>
              </a:spcBef>
            </a:pPr>
            <a:r>
              <a:rPr lang="en-US" b="true" sz="3095">
                <a:solidFill>
                  <a:srgbClr val="F4F6FC"/>
                </a:solidFill>
                <a:latin typeface="HK Grotesk Medium"/>
                <a:ea typeface="HK Grotesk Medium"/>
                <a:cs typeface="HK Grotesk Medium"/>
                <a:sym typeface="HK Grotesk Medium"/>
              </a:rPr>
              <a:t>Mouse: Standard mouse</a:t>
            </a:r>
          </a:p>
          <a:p>
            <a:pPr algn="l">
              <a:lnSpc>
                <a:spcPts val="4333"/>
              </a:lnSpc>
              <a:spcBef>
                <a:spcPct val="0"/>
              </a:spcBef>
            </a:pPr>
            <a:r>
              <a:rPr lang="en-US" b="true" sz="3095">
                <a:solidFill>
                  <a:srgbClr val="F4F6FC"/>
                </a:solidFill>
                <a:latin typeface="HK Grotesk Medium"/>
                <a:ea typeface="HK Grotesk Medium"/>
                <a:cs typeface="HK Grotesk Medium"/>
                <a:sym typeface="HK Grotesk Medium"/>
              </a:rPr>
              <a:t>Computer/Laptop: Any modern computer or laptop</a:t>
            </a: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0"/>
            <a:ext cx="15867063" cy="10287000"/>
          </a:xfrm>
          <a:custGeom>
            <a:avLst/>
            <a:gdLst/>
            <a:ahLst/>
            <a:cxnLst/>
            <a:rect r="r" b="b" t="t" l="l"/>
            <a:pathLst>
              <a:path h="10287000" w="15867063">
                <a:moveTo>
                  <a:pt x="0" y="0"/>
                </a:moveTo>
                <a:lnTo>
                  <a:pt x="15867063" y="0"/>
                </a:lnTo>
                <a:lnTo>
                  <a:pt x="15867063" y="10287000"/>
                </a:lnTo>
                <a:lnTo>
                  <a:pt x="0" y="10287000"/>
                </a:lnTo>
                <a:lnTo>
                  <a:pt x="0" y="0"/>
                </a:lnTo>
                <a:close/>
              </a:path>
            </a:pathLst>
          </a:custGeom>
          <a:blipFill>
            <a:blip r:embed="rId2"/>
            <a:stretch>
              <a:fillRect l="0" t="-1536" r="0" b="-1292"/>
            </a:stretch>
          </a:blipFill>
        </p:spPr>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p:cSld>
    <p:bg>
      <p:bgPr>
        <a:solidFill>
          <a:srgbClr val="050A30"/>
        </a:solidFill>
      </p:bgPr>
    </p:bg>
    <p:spTree>
      <p:nvGrpSpPr>
        <p:cNvPr id="1" name=""/>
        <p:cNvGrpSpPr/>
        <p:nvPr/>
      </p:nvGrpSpPr>
      <p:grpSpPr>
        <a:xfrm>
          <a:off x="0" y="0"/>
          <a:ext cx="0" cy="0"/>
          <a:chOff x="0" y="0"/>
          <a:chExt cx="0" cy="0"/>
        </a:xfrm>
      </p:grpSpPr>
      <p:sp>
        <p:nvSpPr>
          <p:cNvPr name="TextBox 2" id="2"/>
          <p:cNvSpPr txBox="true"/>
          <p:nvPr/>
        </p:nvSpPr>
        <p:spPr>
          <a:xfrm rot="0">
            <a:off x="1090776" y="419417"/>
            <a:ext cx="15478125" cy="1094740"/>
          </a:xfrm>
          <a:prstGeom prst="rect">
            <a:avLst/>
          </a:prstGeom>
        </p:spPr>
        <p:txBody>
          <a:bodyPr anchor="t" rtlCol="false" tIns="0" lIns="0" bIns="0" rIns="0">
            <a:spAutoFit/>
          </a:bodyPr>
          <a:lstStyle/>
          <a:p>
            <a:pPr algn="ctr">
              <a:lnSpc>
                <a:spcPts val="8959"/>
              </a:lnSpc>
            </a:pPr>
            <a:r>
              <a:rPr lang="en-US" b="true" sz="6399">
                <a:solidFill>
                  <a:srgbClr val="F4F6FC"/>
                </a:solidFill>
                <a:latin typeface="HK Grotesk Bold"/>
                <a:ea typeface="HK Grotesk Bold"/>
                <a:cs typeface="HK Grotesk Bold"/>
                <a:sym typeface="HK Grotesk Bold"/>
              </a:rPr>
              <a:t>Literature Survey</a:t>
            </a:r>
          </a:p>
        </p:txBody>
      </p:sp>
      <p:sp>
        <p:nvSpPr>
          <p:cNvPr name="TextBox 3" id="3"/>
          <p:cNvSpPr txBox="true"/>
          <p:nvPr/>
        </p:nvSpPr>
        <p:spPr>
          <a:xfrm rot="0">
            <a:off x="2376195" y="6815460"/>
            <a:ext cx="3554883" cy="1541145"/>
          </a:xfrm>
          <a:prstGeom prst="rect">
            <a:avLst/>
          </a:prstGeom>
        </p:spPr>
        <p:txBody>
          <a:bodyPr anchor="t" rtlCol="false" tIns="0" lIns="0" bIns="0" rIns="0">
            <a:spAutoFit/>
          </a:bodyPr>
          <a:lstStyle/>
          <a:p>
            <a:pPr algn="ctr" marL="0" indent="0" lvl="0">
              <a:lnSpc>
                <a:spcPts val="4199"/>
              </a:lnSpc>
              <a:spcBef>
                <a:spcPct val="0"/>
              </a:spcBef>
            </a:pPr>
            <a:r>
              <a:rPr lang="en-US" b="true" sz="2799">
                <a:solidFill>
                  <a:srgbClr val="050A30"/>
                </a:solidFill>
                <a:latin typeface="HK Grotesk Medium"/>
                <a:ea typeface="HK Grotesk Medium"/>
                <a:cs typeface="HK Grotesk Medium"/>
                <a:sym typeface="HK Grotesk Medium"/>
              </a:rPr>
              <a:t>If connection is lost, files and devices are unavailable.</a:t>
            </a:r>
          </a:p>
        </p:txBody>
      </p:sp>
      <p:sp>
        <p:nvSpPr>
          <p:cNvPr name="TextBox 4" id="4"/>
          <p:cNvSpPr txBox="true"/>
          <p:nvPr/>
        </p:nvSpPr>
        <p:spPr>
          <a:xfrm rot="0">
            <a:off x="12359313" y="6815460"/>
            <a:ext cx="3537210" cy="1541145"/>
          </a:xfrm>
          <a:prstGeom prst="rect">
            <a:avLst/>
          </a:prstGeom>
        </p:spPr>
        <p:txBody>
          <a:bodyPr anchor="t" rtlCol="false" tIns="0" lIns="0" bIns="0" rIns="0">
            <a:spAutoFit/>
          </a:bodyPr>
          <a:lstStyle/>
          <a:p>
            <a:pPr algn="ctr" marL="0" indent="0" lvl="0">
              <a:lnSpc>
                <a:spcPts val="4199"/>
              </a:lnSpc>
              <a:spcBef>
                <a:spcPct val="0"/>
              </a:spcBef>
            </a:pPr>
            <a:r>
              <a:rPr lang="en-US" b="true" sz="2799">
                <a:solidFill>
                  <a:srgbClr val="050A30"/>
                </a:solidFill>
                <a:latin typeface="HK Grotesk Medium"/>
                <a:ea typeface="HK Grotesk Medium"/>
                <a:cs typeface="HK Grotesk Medium"/>
                <a:sym typeface="HK Grotesk Medium"/>
              </a:rPr>
              <a:t>Specialist knowledge and skills are required.</a:t>
            </a:r>
          </a:p>
        </p:txBody>
      </p:sp>
      <p:sp>
        <p:nvSpPr>
          <p:cNvPr name="TextBox 5" id="5"/>
          <p:cNvSpPr txBox="true"/>
          <p:nvPr/>
        </p:nvSpPr>
        <p:spPr>
          <a:xfrm rot="0">
            <a:off x="776614" y="1913890"/>
            <a:ext cx="16106448" cy="10471265"/>
          </a:xfrm>
          <a:prstGeom prst="rect">
            <a:avLst/>
          </a:prstGeom>
        </p:spPr>
        <p:txBody>
          <a:bodyPr anchor="t" rtlCol="false" tIns="0" lIns="0" bIns="0" rIns="0">
            <a:spAutoFit/>
          </a:bodyPr>
          <a:lstStyle/>
          <a:p>
            <a:pPr algn="l" marL="629059" indent="-314530" lvl="1">
              <a:lnSpc>
                <a:spcPts val="4370"/>
              </a:lnSpc>
              <a:buFont typeface="Arial"/>
              <a:buChar char="•"/>
            </a:pPr>
            <a:r>
              <a:rPr lang="en-US" b="true" sz="2913">
                <a:solidFill>
                  <a:srgbClr val="FFFFFF"/>
                </a:solidFill>
                <a:latin typeface="HK Grotesk Medium"/>
                <a:ea typeface="HK Grotesk Medium"/>
                <a:cs typeface="HK Grotesk Medium"/>
                <a:sym typeface="HK Grotesk Medium"/>
              </a:rPr>
              <a:t>Information Retrieval Systems: Previous studies have explored methods for efficiently storing, indexing, and retrieving information from large collections of documents.</a:t>
            </a:r>
          </a:p>
          <a:p>
            <a:pPr algn="l" marL="629059" indent="-314530" lvl="1">
              <a:lnSpc>
                <a:spcPts val="4370"/>
              </a:lnSpc>
              <a:buFont typeface="Arial"/>
              <a:buChar char="•"/>
            </a:pPr>
            <a:r>
              <a:rPr lang="en-US" b="true" sz="2913">
                <a:solidFill>
                  <a:srgbClr val="FFFFFF"/>
                </a:solidFill>
                <a:latin typeface="HK Grotesk Medium"/>
                <a:ea typeface="HK Grotesk Medium"/>
                <a:cs typeface="HK Grotesk Medium"/>
                <a:sym typeface="HK Grotesk Medium"/>
              </a:rPr>
              <a:t>Inverted Indexing: Research shows that inverted indexes are widely used in search systems to map keywords to the documents in which they occur, allowing faster keyword-based retrieval.</a:t>
            </a:r>
          </a:p>
          <a:p>
            <a:pPr algn="l" marL="629059" indent="-314530" lvl="1">
              <a:lnSpc>
                <a:spcPts val="4370"/>
              </a:lnSpc>
              <a:buFont typeface="Arial"/>
              <a:buChar char="•"/>
            </a:pPr>
            <a:r>
              <a:rPr lang="en-US" b="true" sz="2913">
                <a:solidFill>
                  <a:srgbClr val="FFFFFF"/>
                </a:solidFill>
                <a:latin typeface="HK Grotesk Medium"/>
                <a:ea typeface="HK Grotesk Medium"/>
                <a:cs typeface="HK Grotesk Medium"/>
                <a:sym typeface="HK Grotesk Medium"/>
              </a:rPr>
              <a:t>Hashing Techniques: Hash-based data structures such as HashMap provide efficient access to stored information and are useful for creating keyword indexes.</a:t>
            </a:r>
          </a:p>
          <a:p>
            <a:pPr algn="l" marL="629059" indent="-314530" lvl="1">
              <a:lnSpc>
                <a:spcPts val="4370"/>
              </a:lnSpc>
              <a:buFont typeface="Arial"/>
              <a:buChar char="•"/>
            </a:pPr>
            <a:r>
              <a:rPr lang="en-US" b="true" sz="2913">
                <a:solidFill>
                  <a:srgbClr val="FFFFFF"/>
                </a:solidFill>
                <a:latin typeface="HK Grotesk Medium"/>
                <a:ea typeface="HK Grotesk Medium"/>
                <a:cs typeface="HK Grotesk Medium"/>
                <a:sym typeface="HK Grotesk Medium"/>
              </a:rPr>
              <a:t>Text Processing: Various information retrieval systems use text preprocessing techniques such as tokenization, case normalization, and removal of unnecessary characters to improve search accuracy.</a:t>
            </a:r>
          </a:p>
          <a:p>
            <a:pPr algn="l" marL="629059" indent="-314530" lvl="1">
              <a:lnSpc>
                <a:spcPts val="4370"/>
              </a:lnSpc>
              <a:buFont typeface="Arial"/>
              <a:buChar char="•"/>
            </a:pPr>
            <a:r>
              <a:rPr lang="en-US" b="true" sz="2913">
                <a:solidFill>
                  <a:srgbClr val="FFFFFF"/>
                </a:solidFill>
                <a:latin typeface="HK Grotesk Medium"/>
                <a:ea typeface="HK Grotesk Medium"/>
                <a:cs typeface="HK Grotesk Medium"/>
                <a:sym typeface="HK Grotesk Medium"/>
              </a:rPr>
              <a:t>Search and Ranking: Existing systems commonly rank retrieved documents according to factors such as keyword frequency and relevance so that the most useful results appear first.</a:t>
            </a:r>
          </a:p>
          <a:p>
            <a:pPr algn="l" marL="629059" indent="-314530" lvl="1">
              <a:lnSpc>
                <a:spcPts val="4370"/>
              </a:lnSpc>
              <a:buFont typeface="Arial"/>
              <a:buChar char="•"/>
            </a:pPr>
            <a:r>
              <a:rPr lang="en-US" b="true" sz="2913">
                <a:solidFill>
                  <a:srgbClr val="FFFFFF"/>
                </a:solidFill>
                <a:latin typeface="HK Grotesk Medium"/>
                <a:ea typeface="HK Grotesk Medium"/>
                <a:cs typeface="HK Grotesk Medium"/>
                <a:sym typeface="HK Grotesk Medium"/>
              </a:rPr>
              <a:t>Proposed Approach: Based on these concepts, the proposed Mini Search Engine combines text processing, inverted indexing, hashing, searching, and ranking to create a simple and efficient document retrieval system suitable for small collections of text files.</a:t>
            </a:r>
          </a:p>
          <a:p>
            <a:pPr algn="l">
              <a:lnSpc>
                <a:spcPts val="4370"/>
              </a:lnSpc>
            </a:pPr>
          </a:p>
          <a:p>
            <a:pPr algn="l">
              <a:lnSpc>
                <a:spcPts val="4370"/>
              </a:lnSpc>
            </a:pPr>
          </a:p>
          <a:p>
            <a:pPr algn="l">
              <a:lnSpc>
                <a:spcPts val="4370"/>
              </a:lnSpc>
            </a:pPr>
          </a:p>
          <a:p>
            <a:pPr algn="l">
              <a:lnSpc>
                <a:spcPts val="4370"/>
              </a:lnSpc>
            </a:pPr>
          </a:p>
          <a:p>
            <a:pPr algn="l">
              <a:lnSpc>
                <a:spcPts val="4370"/>
              </a:lnSpc>
              <a:spcBef>
                <a:spcPct val="0"/>
              </a:spcBef>
            </a:pPr>
          </a:p>
        </p:txBody>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p:cSld>
    <p:bg>
      <p:bgPr>
        <a:solidFill>
          <a:srgbClr val="050A30"/>
        </a:solidFill>
      </p:bgPr>
    </p:bg>
    <p:spTree>
      <p:nvGrpSpPr>
        <p:cNvPr id="1" name=""/>
        <p:cNvGrpSpPr/>
        <p:nvPr/>
      </p:nvGrpSpPr>
      <p:grpSpPr>
        <a:xfrm>
          <a:off x="0" y="0"/>
          <a:ext cx="0" cy="0"/>
          <a:chOff x="0" y="0"/>
          <a:chExt cx="0" cy="0"/>
        </a:xfrm>
      </p:grpSpPr>
      <p:sp>
        <p:nvSpPr>
          <p:cNvPr name="TextBox 2" id="2"/>
          <p:cNvSpPr txBox="true"/>
          <p:nvPr/>
        </p:nvSpPr>
        <p:spPr>
          <a:xfrm rot="0">
            <a:off x="1028700" y="268889"/>
            <a:ext cx="15478125" cy="1094740"/>
          </a:xfrm>
          <a:prstGeom prst="rect">
            <a:avLst/>
          </a:prstGeom>
        </p:spPr>
        <p:txBody>
          <a:bodyPr anchor="t" rtlCol="false" tIns="0" lIns="0" bIns="0" rIns="0">
            <a:spAutoFit/>
          </a:bodyPr>
          <a:lstStyle/>
          <a:p>
            <a:pPr algn="ctr">
              <a:lnSpc>
                <a:spcPts val="8959"/>
              </a:lnSpc>
            </a:pPr>
            <a:r>
              <a:rPr lang="en-US" b="true" sz="6399">
                <a:solidFill>
                  <a:srgbClr val="F4F6FC"/>
                </a:solidFill>
                <a:latin typeface="HK Grotesk Bold"/>
                <a:ea typeface="HK Grotesk Bold"/>
                <a:cs typeface="HK Grotesk Bold"/>
                <a:sym typeface="HK Grotesk Bold"/>
              </a:rPr>
              <a:t>Methodology</a:t>
            </a:r>
          </a:p>
        </p:txBody>
      </p:sp>
      <p:sp>
        <p:nvSpPr>
          <p:cNvPr name="TextBox 3" id="3"/>
          <p:cNvSpPr txBox="true"/>
          <p:nvPr/>
        </p:nvSpPr>
        <p:spPr>
          <a:xfrm rot="0">
            <a:off x="0" y="1581187"/>
            <a:ext cx="18288000" cy="5732145"/>
          </a:xfrm>
          <a:prstGeom prst="rect">
            <a:avLst/>
          </a:prstGeom>
        </p:spPr>
        <p:txBody>
          <a:bodyPr anchor="t" rtlCol="false" tIns="0" lIns="0" bIns="0" rIns="0">
            <a:spAutoFit/>
          </a:bodyPr>
          <a:lstStyle/>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Document Collection - Collect multiple text files as input documents.</a:t>
            </a:r>
          </a:p>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Document Reading - Read the contents of each text file using Java file handling.</a:t>
            </a:r>
          </a:p>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Text Preprocessing - Convert the text to lowercase and remove unnecessary punctuation and special characters.</a:t>
            </a:r>
          </a:p>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Word Extraction - Split the processed text into individual words.</a:t>
            </a:r>
          </a:p>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Index Creation - Create an inverted index using HashMap to map each unique word to the documents containing it.</a:t>
            </a:r>
          </a:p>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User Search - Accept a keyword as input from the user.</a:t>
            </a:r>
          </a:p>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Search and Retrieval - Search the index and retrieve the documents containing the entered keyword.</a:t>
            </a:r>
          </a:p>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Result Ranking - Rank the retrieved documents based on the frequency of the searched keyword.</a:t>
            </a:r>
          </a:p>
          <a:p>
            <a:pPr algn="l" marL="604519" indent="-302260" lvl="1">
              <a:lnSpc>
                <a:spcPts val="4199"/>
              </a:lnSpc>
              <a:buAutoNum type="arabicPeriod" startAt="1"/>
            </a:pPr>
            <a:r>
              <a:rPr lang="en-US" b="true" sz="2799">
                <a:solidFill>
                  <a:srgbClr val="F4F6FC"/>
                </a:solidFill>
                <a:latin typeface="HK Grotesk Medium"/>
                <a:ea typeface="HK Grotesk Medium"/>
                <a:cs typeface="HK Grotesk Medium"/>
                <a:sym typeface="HK Grotesk Medium"/>
              </a:rPr>
              <a:t>Result Display - Display the matching documents and their relevance to the user.</a:t>
            </a:r>
          </a:p>
          <a:p>
            <a:pPr algn="l">
              <a:lnSpc>
                <a:spcPts val="4199"/>
              </a:lnSpc>
              <a:spcBef>
                <a:spcPct val="0"/>
              </a:spcBef>
            </a:pPr>
          </a:p>
        </p:txBody>
      </p:sp>
    </p:spTree>
  </p:cSld>
  <p:clrMapOvr>
    <a:masterClrMapping/>
  </p:clrMapOvr>
  <p:transition spd="fast">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DAHSzvfdAOg</dc:identifier>
  <dcterms:modified xsi:type="dcterms:W3CDTF">2011-08-01T06:04:30Z</dcterms:modified>
  <cp:revision>1</cp:revision>
  <dc:title>Mini Search Engine Using Data Structures and Information Retrieval</dc:title>
</cp:coreProperties>
</file>